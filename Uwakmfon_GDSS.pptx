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7" r:id="rId19"/>
    <p:sldId id="276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D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590"/>
  </p:normalViewPr>
  <p:slideViewPr>
    <p:cSldViewPr snapToGrid="0" snapToObjects="1">
      <p:cViewPr varScale="1">
        <p:scale>
          <a:sx n="92" d="100"/>
          <a:sy n="92" d="100"/>
        </p:scale>
        <p:origin x="7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5EEC5-DD49-C34A-B347-E75A7F2E3805}" type="datetimeFigureOut">
              <a:rPr lang="en-US" smtClean="0"/>
              <a:t>6/22/26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4A2FE-6B60-0A43-BDDF-956B0BBC3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893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188DF-09EE-3147-A7A8-3572BEE23872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FC8E-D175-1445-B7A7-DA53A37F3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369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188DF-09EE-3147-A7A8-3572BEE23872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FC8E-D175-1445-B7A7-DA53A37F3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966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188DF-09EE-3147-A7A8-3572BEE23872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FC8E-D175-1445-B7A7-DA53A37F3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93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188DF-09EE-3147-A7A8-3572BEE23872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FC8E-D175-1445-B7A7-DA53A37F3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765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188DF-09EE-3147-A7A8-3572BEE23872}" type="datetimeFigureOut">
              <a:rPr lang="en-US" smtClean="0"/>
              <a:t>6/22/26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FC8E-D175-1445-B7A7-DA53A37F3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465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188DF-09EE-3147-A7A8-3572BEE23872}" type="datetimeFigureOut">
              <a:rPr lang="en-US" smtClean="0"/>
              <a:t>6/22/26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FC8E-D175-1445-B7A7-DA53A37F3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15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188DF-09EE-3147-A7A8-3572BEE23872}" type="datetimeFigureOut">
              <a:rPr lang="en-US" smtClean="0"/>
              <a:t>6/22/26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FC8E-D175-1445-B7A7-DA53A37F3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099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188DF-09EE-3147-A7A8-3572BEE23872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FC8E-D175-1445-B7A7-DA53A37F3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151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188DF-09EE-3147-A7A8-3572BEE23872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FC8E-D175-1445-B7A7-DA53A37F3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841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188DF-09EE-3147-A7A8-3572BEE23872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FC8E-D175-1445-B7A7-DA53A37F3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578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188DF-09EE-3147-A7A8-3572BEE23872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FC8E-D175-1445-B7A7-DA53A37F3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573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6188DF-09EE-3147-A7A8-3572BEE23872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0FC8E-D175-1445-B7A7-DA53A37F3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161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hana-rusers.org/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uwakmfon@ghana-rusers.org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ran.r-project.org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osit.co/download/rstudio-desktop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webwacky.github.io/statease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0FFF111-F1F5-5E45-8089-5035D2CCBC8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60065" y="2442462"/>
            <a:ext cx="4182126" cy="326205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6291657-F20B-C445-9E85-6F8DD708A588}"/>
              </a:ext>
            </a:extLst>
          </p:cNvPr>
          <p:cNvSpPr/>
          <p:nvPr/>
        </p:nvSpPr>
        <p:spPr>
          <a:xfrm>
            <a:off x="0" y="-1"/>
            <a:ext cx="4978400" cy="6858001"/>
          </a:xfrm>
          <a:prstGeom prst="rect">
            <a:avLst/>
          </a:prstGeom>
          <a:solidFill>
            <a:srgbClr val="004D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FA7731E-6528-C745-9580-27248B52CB4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6510" y="-2"/>
            <a:ext cx="4978400" cy="6858001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E5281EEE-6A80-504D-B34A-0CC85155BCD8}"/>
              </a:ext>
            </a:extLst>
          </p:cNvPr>
          <p:cNvSpPr/>
          <p:nvPr/>
        </p:nvSpPr>
        <p:spPr>
          <a:xfrm>
            <a:off x="795867" y="1871133"/>
            <a:ext cx="3115734" cy="311573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3CECB9-6B27-DC46-BAFD-B2BC2CE950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997" y="2235198"/>
            <a:ext cx="2387603" cy="238760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5AE5643-6A76-8D47-BAE7-89D21423277F}"/>
              </a:ext>
            </a:extLst>
          </p:cNvPr>
          <p:cNvSpPr txBox="1"/>
          <p:nvPr/>
        </p:nvSpPr>
        <p:spPr>
          <a:xfrm>
            <a:off x="5440811" y="730238"/>
            <a:ext cx="62822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GHANA R USERS COMMUNITY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GHANA R USERS COMMUNITY IS THE NATIONAL HUB FOR ALL R USER GROUPS IN GHANA. FOUNDED IN 2022, TODAY WE SERVE AS THE UMBRELLA BODY SUPPORTING AND COORDINATING  CITY-BASED R COMMUNITIES, WHILE PROMOTING THE USE OF R FOR SOLVING REAL-WORLD CHALLENGES ACROSS SECTORS LIKE HEALTH, EDUCATION, RESEARCH, AND GOVERNANCE.</a:t>
            </a:r>
          </a:p>
          <a:p>
            <a:pPr algn="just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54DF34E-8AF1-AD49-B938-8E2E62EAF6D9}"/>
              </a:ext>
            </a:extLst>
          </p:cNvPr>
          <p:cNvSpPr/>
          <p:nvPr/>
        </p:nvSpPr>
        <p:spPr>
          <a:xfrm>
            <a:off x="5625999" y="6241220"/>
            <a:ext cx="115127" cy="11512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82BC24C-D41F-FC47-B20F-0198DA787EFE}"/>
              </a:ext>
            </a:extLst>
          </p:cNvPr>
          <p:cNvSpPr/>
          <p:nvPr/>
        </p:nvSpPr>
        <p:spPr>
          <a:xfrm>
            <a:off x="5774267" y="6241220"/>
            <a:ext cx="115127" cy="11512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87E2787-3E99-6242-AD21-A53F969145B7}"/>
              </a:ext>
            </a:extLst>
          </p:cNvPr>
          <p:cNvSpPr/>
          <p:nvPr/>
        </p:nvSpPr>
        <p:spPr>
          <a:xfrm>
            <a:off x="5927566" y="6241221"/>
            <a:ext cx="115127" cy="11512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E2D393-B556-4841-BA8F-DD885DC0B92F}"/>
              </a:ext>
            </a:extLst>
          </p:cNvPr>
          <p:cNvSpPr txBox="1"/>
          <p:nvPr/>
        </p:nvSpPr>
        <p:spPr>
          <a:xfrm>
            <a:off x="6096000" y="6037175"/>
            <a:ext cx="4903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Visit us at: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https://ghana-rusers.org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 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Ghana R Users Community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 and Facebook </a:t>
            </a:r>
          </a:p>
        </p:txBody>
      </p:sp>
    </p:spTree>
    <p:extLst>
      <p:ext uri="{BB962C8B-B14F-4D97-AF65-F5344CB8AC3E}">
        <p14:creationId xmlns:p14="http://schemas.microsoft.com/office/powerpoint/2010/main" val="1317906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EE2286-990A-0947-9A88-FE130435C5DD}"/>
              </a:ext>
            </a:extLst>
          </p:cNvPr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004D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C24A01-D43A-4B44-8C60-3CED29392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28" y="6083808"/>
            <a:ext cx="646176" cy="6461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61BBF5-9340-3841-8FCC-EC6F42C9FCD2}"/>
              </a:ext>
            </a:extLst>
          </p:cNvPr>
          <p:cNvSpPr txBox="1"/>
          <p:nvPr/>
        </p:nvSpPr>
        <p:spPr>
          <a:xfrm>
            <a:off x="977231" y="6221150"/>
            <a:ext cx="3580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GHANA R USERS COMMUNITY</a:t>
            </a:r>
          </a:p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NATIONAL HUB FOR ALL R USER GROUPS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81901F-7CB7-F34F-9C6B-606C8342FEB4}"/>
              </a:ext>
            </a:extLst>
          </p:cNvPr>
          <p:cNvSpPr/>
          <p:nvPr/>
        </p:nvSpPr>
        <p:spPr>
          <a:xfrm flipV="1">
            <a:off x="5526281" y="6361177"/>
            <a:ext cx="2111037" cy="457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9C0696-54F3-654A-AECB-FD4994A69EF0}"/>
              </a:ext>
            </a:extLst>
          </p:cNvPr>
          <p:cNvSpPr/>
          <p:nvPr/>
        </p:nvSpPr>
        <p:spPr>
          <a:xfrm flipV="1">
            <a:off x="7168898" y="6361176"/>
            <a:ext cx="2111037" cy="457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A314E2-1CEF-8849-887B-C570C3829B58}"/>
              </a:ext>
            </a:extLst>
          </p:cNvPr>
          <p:cNvSpPr/>
          <p:nvPr/>
        </p:nvSpPr>
        <p:spPr>
          <a:xfrm flipV="1">
            <a:off x="8811515" y="6361175"/>
            <a:ext cx="2111037" cy="45719"/>
          </a:xfrm>
          <a:prstGeom prst="rect">
            <a:avLst/>
          </a:prstGeom>
          <a:solidFill>
            <a:srgbClr val="004D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508360-9E90-4B4F-A24D-6135E00EA95E}"/>
              </a:ext>
            </a:extLst>
          </p:cNvPr>
          <p:cNvSpPr txBox="1"/>
          <p:nvPr/>
        </p:nvSpPr>
        <p:spPr>
          <a:xfrm>
            <a:off x="836066" y="1788803"/>
            <a:ext cx="10519868" cy="38928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Harnessing R for Data Science and Research, and AI Applications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Subtitle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An Introduction to R and the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statease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Package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Uwakmfon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Paul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Ghana Data Science Summit –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IndabaX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Ghana 2026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June 2026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Venue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Ho Technical University, Ghana</a:t>
            </a:r>
          </a:p>
        </p:txBody>
      </p:sp>
    </p:spTree>
    <p:extLst>
      <p:ext uri="{BB962C8B-B14F-4D97-AF65-F5344CB8AC3E}">
        <p14:creationId xmlns:p14="http://schemas.microsoft.com/office/powerpoint/2010/main" val="1792805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EE2286-990A-0947-9A88-FE130435C5DD}"/>
              </a:ext>
            </a:extLst>
          </p:cNvPr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004D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PRESENTER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C24A01-D43A-4B44-8C60-3CED29392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28" y="6083808"/>
            <a:ext cx="646176" cy="6461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61BBF5-9340-3841-8FCC-EC6F42C9FCD2}"/>
              </a:ext>
            </a:extLst>
          </p:cNvPr>
          <p:cNvSpPr txBox="1"/>
          <p:nvPr/>
        </p:nvSpPr>
        <p:spPr>
          <a:xfrm>
            <a:off x="977231" y="6221150"/>
            <a:ext cx="3580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GHANA R USERS COMMUNITY</a:t>
            </a:r>
          </a:p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NATIONAL HUB FOR ALL R USER GROUPS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81901F-7CB7-F34F-9C6B-606C8342FEB4}"/>
              </a:ext>
            </a:extLst>
          </p:cNvPr>
          <p:cNvSpPr/>
          <p:nvPr/>
        </p:nvSpPr>
        <p:spPr>
          <a:xfrm flipV="1">
            <a:off x="5526281" y="6361177"/>
            <a:ext cx="2111037" cy="457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9C0696-54F3-654A-AECB-FD4994A69EF0}"/>
              </a:ext>
            </a:extLst>
          </p:cNvPr>
          <p:cNvSpPr/>
          <p:nvPr/>
        </p:nvSpPr>
        <p:spPr>
          <a:xfrm flipV="1">
            <a:off x="7168898" y="6361176"/>
            <a:ext cx="2111037" cy="457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A314E2-1CEF-8849-887B-C570C3829B58}"/>
              </a:ext>
            </a:extLst>
          </p:cNvPr>
          <p:cNvSpPr/>
          <p:nvPr/>
        </p:nvSpPr>
        <p:spPr>
          <a:xfrm flipV="1">
            <a:off x="8811515" y="6361175"/>
            <a:ext cx="2111037" cy="45719"/>
          </a:xfrm>
          <a:prstGeom prst="rect">
            <a:avLst/>
          </a:prstGeom>
          <a:solidFill>
            <a:srgbClr val="004D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508360-9E90-4B4F-A24D-6135E00EA95E}"/>
              </a:ext>
            </a:extLst>
          </p:cNvPr>
          <p:cNvSpPr txBox="1"/>
          <p:nvPr/>
        </p:nvSpPr>
        <p:spPr>
          <a:xfrm>
            <a:off x="665359" y="1909736"/>
            <a:ext cx="890847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Uwakmfon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Paul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Laboratory Scientist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Designer and R Tutor, Ghana R Users Community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Programmer and Designer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 of 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statease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 package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Published on CRAN – The Comprehensive R Archive Network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/ AI enthusiast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Olympiad award winner, 2024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uwakmfon31@gmail.com |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uwakmfon@ghana-rusers.org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Uwakmfon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Paul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+233559872031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Portfolio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https://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uwakmfon-portfolio.vercel.app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3077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EE2286-990A-0947-9A88-FE130435C5DD}"/>
              </a:ext>
            </a:extLst>
          </p:cNvPr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004D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OVERVIEW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C24A01-D43A-4B44-8C60-3CED29392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28" y="6083808"/>
            <a:ext cx="646176" cy="6461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61BBF5-9340-3841-8FCC-EC6F42C9FCD2}"/>
              </a:ext>
            </a:extLst>
          </p:cNvPr>
          <p:cNvSpPr txBox="1"/>
          <p:nvPr/>
        </p:nvSpPr>
        <p:spPr>
          <a:xfrm>
            <a:off x="977231" y="6221150"/>
            <a:ext cx="3580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GHANA R USERS COMMUNITY</a:t>
            </a:r>
          </a:p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NATIONAL HUB FOR ALL R USER GROUPS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81901F-7CB7-F34F-9C6B-606C8342FEB4}"/>
              </a:ext>
            </a:extLst>
          </p:cNvPr>
          <p:cNvSpPr/>
          <p:nvPr/>
        </p:nvSpPr>
        <p:spPr>
          <a:xfrm flipV="1">
            <a:off x="5526281" y="6361177"/>
            <a:ext cx="2111037" cy="457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9C0696-54F3-654A-AECB-FD4994A69EF0}"/>
              </a:ext>
            </a:extLst>
          </p:cNvPr>
          <p:cNvSpPr/>
          <p:nvPr/>
        </p:nvSpPr>
        <p:spPr>
          <a:xfrm flipV="1">
            <a:off x="7168898" y="6361176"/>
            <a:ext cx="2111037" cy="457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A314E2-1CEF-8849-887B-C570C3829B58}"/>
              </a:ext>
            </a:extLst>
          </p:cNvPr>
          <p:cNvSpPr/>
          <p:nvPr/>
        </p:nvSpPr>
        <p:spPr>
          <a:xfrm flipV="1">
            <a:off x="8811515" y="6361175"/>
            <a:ext cx="2111037" cy="45719"/>
          </a:xfrm>
          <a:prstGeom prst="rect">
            <a:avLst/>
          </a:prstGeom>
          <a:solidFill>
            <a:srgbClr val="004D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508360-9E90-4B4F-A24D-6135E00EA95E}"/>
              </a:ext>
            </a:extLst>
          </p:cNvPr>
          <p:cNvSpPr txBox="1"/>
          <p:nvPr/>
        </p:nvSpPr>
        <p:spPr>
          <a:xfrm>
            <a:off x="939131" y="1896622"/>
            <a:ext cx="1050818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R and why does it matter?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 ecosystem – key packages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Getting started with 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with real dataset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statease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11194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EE2286-990A-0947-9A88-FE130435C5DD}"/>
              </a:ext>
            </a:extLst>
          </p:cNvPr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004D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R?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C24A01-D43A-4B44-8C60-3CED29392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28" y="6083808"/>
            <a:ext cx="646176" cy="6461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61BBF5-9340-3841-8FCC-EC6F42C9FCD2}"/>
              </a:ext>
            </a:extLst>
          </p:cNvPr>
          <p:cNvSpPr txBox="1"/>
          <p:nvPr/>
        </p:nvSpPr>
        <p:spPr>
          <a:xfrm>
            <a:off x="977231" y="6221150"/>
            <a:ext cx="3580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GHANA R USERS COMMUNITY</a:t>
            </a:r>
          </a:p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NATIONAL HUB FOR ALL R USER GROUPS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81901F-7CB7-F34F-9C6B-606C8342FEB4}"/>
              </a:ext>
            </a:extLst>
          </p:cNvPr>
          <p:cNvSpPr/>
          <p:nvPr/>
        </p:nvSpPr>
        <p:spPr>
          <a:xfrm flipV="1">
            <a:off x="5526281" y="6361177"/>
            <a:ext cx="2111037" cy="457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9C0696-54F3-654A-AECB-FD4994A69EF0}"/>
              </a:ext>
            </a:extLst>
          </p:cNvPr>
          <p:cNvSpPr/>
          <p:nvPr/>
        </p:nvSpPr>
        <p:spPr>
          <a:xfrm flipV="1">
            <a:off x="7168898" y="6361176"/>
            <a:ext cx="2111037" cy="457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A314E2-1CEF-8849-887B-C570C3829B58}"/>
              </a:ext>
            </a:extLst>
          </p:cNvPr>
          <p:cNvSpPr/>
          <p:nvPr/>
        </p:nvSpPr>
        <p:spPr>
          <a:xfrm flipV="1">
            <a:off x="8811515" y="6361175"/>
            <a:ext cx="2111037" cy="45719"/>
          </a:xfrm>
          <a:prstGeom prst="rect">
            <a:avLst/>
          </a:prstGeom>
          <a:solidFill>
            <a:srgbClr val="004D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508360-9E90-4B4F-A24D-6135E00EA95E}"/>
              </a:ext>
            </a:extLst>
          </p:cNvPr>
          <p:cNvSpPr txBox="1"/>
          <p:nvPr/>
        </p:nvSpPr>
        <p:spPr>
          <a:xfrm>
            <a:off x="933704" y="1740644"/>
            <a:ext cx="1050818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is a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free,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open-source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programming language designed specifically for statistical computing and data analysis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by Ross Ihaka and Robert Gentleman at the University of Auckland in 1993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Maintained by the R Core Team and supported by a global community of millions of users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by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researchers, data scientists, academics, and industry professionals worldwide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is not just a tool, it is a language that speaks the language of data.</a:t>
            </a:r>
          </a:p>
        </p:txBody>
      </p:sp>
    </p:spTree>
    <p:extLst>
      <p:ext uri="{BB962C8B-B14F-4D97-AF65-F5344CB8AC3E}">
        <p14:creationId xmlns:p14="http://schemas.microsoft.com/office/powerpoint/2010/main" val="1866204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EE2286-990A-0947-9A88-FE130435C5DD}"/>
              </a:ext>
            </a:extLst>
          </p:cNvPr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004D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R for Data Science?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C24A01-D43A-4B44-8C60-3CED29392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28" y="6083808"/>
            <a:ext cx="646176" cy="6461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61BBF5-9340-3841-8FCC-EC6F42C9FCD2}"/>
              </a:ext>
            </a:extLst>
          </p:cNvPr>
          <p:cNvSpPr txBox="1"/>
          <p:nvPr/>
        </p:nvSpPr>
        <p:spPr>
          <a:xfrm>
            <a:off x="977231" y="6221150"/>
            <a:ext cx="3580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GHANA R USERS COMMUNITY</a:t>
            </a:r>
          </a:p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NATIONAL HUB FOR ALL R USER GROUPS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81901F-7CB7-F34F-9C6B-606C8342FEB4}"/>
              </a:ext>
            </a:extLst>
          </p:cNvPr>
          <p:cNvSpPr/>
          <p:nvPr/>
        </p:nvSpPr>
        <p:spPr>
          <a:xfrm flipV="1">
            <a:off x="5526281" y="6361177"/>
            <a:ext cx="2111037" cy="457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9C0696-54F3-654A-AECB-FD4994A69EF0}"/>
              </a:ext>
            </a:extLst>
          </p:cNvPr>
          <p:cNvSpPr/>
          <p:nvPr/>
        </p:nvSpPr>
        <p:spPr>
          <a:xfrm flipV="1">
            <a:off x="7168898" y="6361176"/>
            <a:ext cx="2111037" cy="457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A314E2-1CEF-8849-887B-C570C3829B58}"/>
              </a:ext>
            </a:extLst>
          </p:cNvPr>
          <p:cNvSpPr/>
          <p:nvPr/>
        </p:nvSpPr>
        <p:spPr>
          <a:xfrm flipV="1">
            <a:off x="8811515" y="6361175"/>
            <a:ext cx="2111037" cy="45719"/>
          </a:xfrm>
          <a:prstGeom prst="rect">
            <a:avLst/>
          </a:prstGeom>
          <a:solidFill>
            <a:srgbClr val="004D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508360-9E90-4B4F-A24D-6135E00EA95E}"/>
              </a:ext>
            </a:extLst>
          </p:cNvPr>
          <p:cNvSpPr txBox="1"/>
          <p:nvPr/>
        </p:nvSpPr>
        <p:spPr>
          <a:xfrm>
            <a:off x="397579" y="1664523"/>
            <a:ext cx="11396841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Purpose-built for statistics and data analysis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than 20,000 free packages on CRAN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World class data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visualisation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(ggplot2)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academic and research community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Reproducible research with R Markdown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and open source forever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with python, SQL, and more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Growing AI and machine learning ecosystem</a:t>
            </a:r>
          </a:p>
        </p:txBody>
      </p:sp>
    </p:spTree>
    <p:extLst>
      <p:ext uri="{BB962C8B-B14F-4D97-AF65-F5344CB8AC3E}">
        <p14:creationId xmlns:p14="http://schemas.microsoft.com/office/powerpoint/2010/main" val="3732288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EE2286-990A-0947-9A88-FE130435C5DD}"/>
              </a:ext>
            </a:extLst>
          </p:cNvPr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004D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vs Python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C24A01-D43A-4B44-8C60-3CED29392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28" y="6083808"/>
            <a:ext cx="646176" cy="6461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61BBF5-9340-3841-8FCC-EC6F42C9FCD2}"/>
              </a:ext>
            </a:extLst>
          </p:cNvPr>
          <p:cNvSpPr txBox="1"/>
          <p:nvPr/>
        </p:nvSpPr>
        <p:spPr>
          <a:xfrm>
            <a:off x="977231" y="6221150"/>
            <a:ext cx="3580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GHANA R USERS COMMUNITY</a:t>
            </a:r>
          </a:p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NATIONAL HUB FOR ALL R USER GROUPS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81901F-7CB7-F34F-9C6B-606C8342FEB4}"/>
              </a:ext>
            </a:extLst>
          </p:cNvPr>
          <p:cNvSpPr/>
          <p:nvPr/>
        </p:nvSpPr>
        <p:spPr>
          <a:xfrm flipV="1">
            <a:off x="5526281" y="6361177"/>
            <a:ext cx="2111037" cy="457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9C0696-54F3-654A-AECB-FD4994A69EF0}"/>
              </a:ext>
            </a:extLst>
          </p:cNvPr>
          <p:cNvSpPr/>
          <p:nvPr/>
        </p:nvSpPr>
        <p:spPr>
          <a:xfrm flipV="1">
            <a:off x="7168898" y="6361176"/>
            <a:ext cx="2111037" cy="457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A314E2-1CEF-8849-887B-C570C3829B58}"/>
              </a:ext>
            </a:extLst>
          </p:cNvPr>
          <p:cNvSpPr/>
          <p:nvPr/>
        </p:nvSpPr>
        <p:spPr>
          <a:xfrm flipV="1">
            <a:off x="8811515" y="6361175"/>
            <a:ext cx="2111037" cy="45719"/>
          </a:xfrm>
          <a:prstGeom prst="rect">
            <a:avLst/>
          </a:prstGeom>
          <a:solidFill>
            <a:srgbClr val="004D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508360-9E90-4B4F-A24D-6135E00EA95E}"/>
              </a:ext>
            </a:extLst>
          </p:cNvPr>
          <p:cNvSpPr txBox="1"/>
          <p:nvPr/>
        </p:nvSpPr>
        <p:spPr>
          <a:xfrm>
            <a:off x="610616" y="1625856"/>
            <a:ext cx="5162296" cy="279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is better for: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research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visualisation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Bioinformatics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0A8481-D306-C949-AD5A-F5F275571752}"/>
              </a:ext>
            </a:extLst>
          </p:cNvPr>
          <p:cNvSpPr txBox="1"/>
          <p:nvPr/>
        </p:nvSpPr>
        <p:spPr>
          <a:xfrm>
            <a:off x="5526281" y="1625856"/>
            <a:ext cx="5162296" cy="334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is better for: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programming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systems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development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9CF796-D046-6141-890E-16AAC9B017EC}"/>
              </a:ext>
            </a:extLst>
          </p:cNvPr>
          <p:cNvSpPr txBox="1"/>
          <p:nvPr/>
        </p:nvSpPr>
        <p:spPr>
          <a:xfrm>
            <a:off x="1438252" y="5205110"/>
            <a:ext cx="8669319" cy="57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complement each other and many scientists use both.</a:t>
            </a:r>
          </a:p>
        </p:txBody>
      </p:sp>
    </p:spTree>
    <p:extLst>
      <p:ext uri="{BB962C8B-B14F-4D97-AF65-F5344CB8AC3E}">
        <p14:creationId xmlns:p14="http://schemas.microsoft.com/office/powerpoint/2010/main" val="3850420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EE2286-990A-0947-9A88-FE130435C5DD}"/>
              </a:ext>
            </a:extLst>
          </p:cNvPr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004D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 R Ecosystem – Key Packages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C24A01-D43A-4B44-8C60-3CED29392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28" y="6083808"/>
            <a:ext cx="646176" cy="6461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61BBF5-9340-3841-8FCC-EC6F42C9FCD2}"/>
              </a:ext>
            </a:extLst>
          </p:cNvPr>
          <p:cNvSpPr txBox="1"/>
          <p:nvPr/>
        </p:nvSpPr>
        <p:spPr>
          <a:xfrm>
            <a:off x="977231" y="6221150"/>
            <a:ext cx="3580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GHANA R USERS COMMUNITY</a:t>
            </a:r>
          </a:p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NATIONAL HUB FOR ALL R USER GROUPS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81901F-7CB7-F34F-9C6B-606C8342FEB4}"/>
              </a:ext>
            </a:extLst>
          </p:cNvPr>
          <p:cNvSpPr/>
          <p:nvPr/>
        </p:nvSpPr>
        <p:spPr>
          <a:xfrm flipV="1">
            <a:off x="5526281" y="6361177"/>
            <a:ext cx="2111037" cy="457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9C0696-54F3-654A-AECB-FD4994A69EF0}"/>
              </a:ext>
            </a:extLst>
          </p:cNvPr>
          <p:cNvSpPr/>
          <p:nvPr/>
        </p:nvSpPr>
        <p:spPr>
          <a:xfrm flipV="1">
            <a:off x="7168898" y="6361176"/>
            <a:ext cx="2111037" cy="457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A314E2-1CEF-8849-887B-C570C3829B58}"/>
              </a:ext>
            </a:extLst>
          </p:cNvPr>
          <p:cNvSpPr/>
          <p:nvPr/>
        </p:nvSpPr>
        <p:spPr>
          <a:xfrm flipV="1">
            <a:off x="8811515" y="6361175"/>
            <a:ext cx="2111037" cy="45719"/>
          </a:xfrm>
          <a:prstGeom prst="rect">
            <a:avLst/>
          </a:prstGeom>
          <a:solidFill>
            <a:srgbClr val="004D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508360-9E90-4B4F-A24D-6135E00EA95E}"/>
              </a:ext>
            </a:extLst>
          </p:cNvPr>
          <p:cNvSpPr txBox="1"/>
          <p:nvPr/>
        </p:nvSpPr>
        <p:spPr>
          <a:xfrm>
            <a:off x="610616" y="1979749"/>
            <a:ext cx="548538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Manipulation:</a:t>
            </a:r>
          </a:p>
          <a:p>
            <a:pPr marL="342900" indent="-342900">
              <a:buFont typeface="Wingdings" pitchFamily="2" charset="2"/>
              <a:buChar char="v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dplyr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filter, select, mutate,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summarise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itchFamily="2" charset="2"/>
              <a:buChar char="v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tidyr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reshape and tidy data</a:t>
            </a:r>
          </a:p>
          <a:p>
            <a:pPr marL="342900" indent="-342900">
              <a:buFont typeface="Wingdings" pitchFamily="2" charset="2"/>
              <a:buChar char="v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data.table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fast large data processing</a:t>
            </a:r>
          </a:p>
          <a:p>
            <a:pPr marL="342900" indent="-342900">
              <a:buFont typeface="Wingdings" pitchFamily="2" charset="2"/>
              <a:buChar char="v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Visualisation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 typeface="Wingdings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ggplot2 – publication quality graphics</a:t>
            </a:r>
          </a:p>
          <a:p>
            <a:pPr marL="342900" indent="-342900">
              <a:buFont typeface="Wingdings" pitchFamily="2" charset="2"/>
              <a:buChar char="v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interactive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visualisations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shiny – interactive web applications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DEE7D6-6941-C443-9566-7BE40DBF655D}"/>
              </a:ext>
            </a:extLst>
          </p:cNvPr>
          <p:cNvSpPr txBox="1"/>
          <p:nvPr/>
        </p:nvSpPr>
        <p:spPr>
          <a:xfrm>
            <a:off x="6096000" y="2011233"/>
            <a:ext cx="566351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 typeface="Wingdings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stats – built-in R statistics</a:t>
            </a:r>
          </a:p>
          <a:p>
            <a:pPr marL="342900" indent="-342900">
              <a:buFont typeface="Wingdings" pitchFamily="2" charset="2"/>
              <a:buChar char="v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statease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simplified stats + interpretation</a:t>
            </a:r>
          </a:p>
          <a:p>
            <a:pPr marL="342900" indent="-342900">
              <a:buFont typeface="Wingdings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caret – machine learning</a:t>
            </a:r>
          </a:p>
          <a:p>
            <a:pPr marL="342900" indent="-342900">
              <a:buFont typeface="Wingdings" pitchFamily="2" charset="2"/>
              <a:buChar char="v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Reporting:</a:t>
            </a:r>
          </a:p>
          <a:p>
            <a:pPr marL="342900" indent="-342900">
              <a:buFont typeface="Wingdings" pitchFamily="2" charset="2"/>
              <a:buChar char="v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rmarkdown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reproducible reports</a:t>
            </a:r>
          </a:p>
          <a:p>
            <a:pPr marL="342900" indent="-342900">
              <a:buFont typeface="Wingdings" pitchFamily="2" charset="2"/>
              <a:buChar char="v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knitr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dynamic documents</a:t>
            </a:r>
          </a:p>
        </p:txBody>
      </p:sp>
    </p:spTree>
    <p:extLst>
      <p:ext uri="{BB962C8B-B14F-4D97-AF65-F5344CB8AC3E}">
        <p14:creationId xmlns:p14="http://schemas.microsoft.com/office/powerpoint/2010/main" val="3042661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EE2286-990A-0947-9A88-FE130435C5DD}"/>
              </a:ext>
            </a:extLst>
          </p:cNvPr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004D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Getting Started with 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C24A01-D43A-4B44-8C60-3CED29392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28" y="6083808"/>
            <a:ext cx="646176" cy="6461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61BBF5-9340-3841-8FCC-EC6F42C9FCD2}"/>
              </a:ext>
            </a:extLst>
          </p:cNvPr>
          <p:cNvSpPr txBox="1"/>
          <p:nvPr/>
        </p:nvSpPr>
        <p:spPr>
          <a:xfrm>
            <a:off x="977231" y="6221150"/>
            <a:ext cx="3580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GHANA R USERS COMMUNITY</a:t>
            </a:r>
          </a:p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NATIONAL HUB FOR ALL R USER GROUPS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81901F-7CB7-F34F-9C6B-606C8342FEB4}"/>
              </a:ext>
            </a:extLst>
          </p:cNvPr>
          <p:cNvSpPr/>
          <p:nvPr/>
        </p:nvSpPr>
        <p:spPr>
          <a:xfrm flipV="1">
            <a:off x="5526281" y="6361177"/>
            <a:ext cx="2111037" cy="457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9C0696-54F3-654A-AECB-FD4994A69EF0}"/>
              </a:ext>
            </a:extLst>
          </p:cNvPr>
          <p:cNvSpPr/>
          <p:nvPr/>
        </p:nvSpPr>
        <p:spPr>
          <a:xfrm flipV="1">
            <a:off x="7168898" y="6361176"/>
            <a:ext cx="2111037" cy="457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A314E2-1CEF-8849-887B-C570C3829B58}"/>
              </a:ext>
            </a:extLst>
          </p:cNvPr>
          <p:cNvSpPr/>
          <p:nvPr/>
        </p:nvSpPr>
        <p:spPr>
          <a:xfrm flipV="1">
            <a:off x="8811515" y="6361175"/>
            <a:ext cx="2111037" cy="45719"/>
          </a:xfrm>
          <a:prstGeom prst="rect">
            <a:avLst/>
          </a:prstGeom>
          <a:solidFill>
            <a:srgbClr val="004D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508360-9E90-4B4F-A24D-6135E00EA95E}"/>
              </a:ext>
            </a:extLst>
          </p:cNvPr>
          <p:cNvSpPr txBox="1"/>
          <p:nvPr/>
        </p:nvSpPr>
        <p:spPr>
          <a:xfrm>
            <a:off x="610616" y="1506257"/>
            <a:ext cx="10868811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Download R via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https://cran.r-project.org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Download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Rstudio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via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https://posit.co/download/rstudio-desktop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Install packages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install.packages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tidyverse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install.packages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statease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Load packages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library(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tidyverse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library(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statease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80499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EE2286-990A-0947-9A88-FE130435C5DD}"/>
              </a:ext>
            </a:extLst>
          </p:cNvPr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004D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Gapminder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C24A01-D43A-4B44-8C60-3CED29392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28" y="6083808"/>
            <a:ext cx="646176" cy="6461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61BBF5-9340-3841-8FCC-EC6F42C9FCD2}"/>
              </a:ext>
            </a:extLst>
          </p:cNvPr>
          <p:cNvSpPr txBox="1"/>
          <p:nvPr/>
        </p:nvSpPr>
        <p:spPr>
          <a:xfrm>
            <a:off x="977231" y="6221150"/>
            <a:ext cx="3580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GHANA R USERS COMMUNITY</a:t>
            </a:r>
          </a:p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NATIONAL HUB FOR ALL R USER GROUPS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81901F-7CB7-F34F-9C6B-606C8342FEB4}"/>
              </a:ext>
            </a:extLst>
          </p:cNvPr>
          <p:cNvSpPr/>
          <p:nvPr/>
        </p:nvSpPr>
        <p:spPr>
          <a:xfrm flipV="1">
            <a:off x="5526281" y="6361177"/>
            <a:ext cx="2111037" cy="457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9C0696-54F3-654A-AECB-FD4994A69EF0}"/>
              </a:ext>
            </a:extLst>
          </p:cNvPr>
          <p:cNvSpPr/>
          <p:nvPr/>
        </p:nvSpPr>
        <p:spPr>
          <a:xfrm flipV="1">
            <a:off x="7168898" y="6361176"/>
            <a:ext cx="2111037" cy="457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A314E2-1CEF-8849-887B-C570C3829B58}"/>
              </a:ext>
            </a:extLst>
          </p:cNvPr>
          <p:cNvSpPr/>
          <p:nvPr/>
        </p:nvSpPr>
        <p:spPr>
          <a:xfrm flipV="1">
            <a:off x="8811515" y="6361175"/>
            <a:ext cx="2111037" cy="45719"/>
          </a:xfrm>
          <a:prstGeom prst="rect">
            <a:avLst/>
          </a:prstGeom>
          <a:solidFill>
            <a:srgbClr val="004D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508360-9E90-4B4F-A24D-6135E00EA95E}"/>
              </a:ext>
            </a:extLst>
          </p:cNvPr>
          <p:cNvSpPr txBox="1"/>
          <p:nvPr/>
        </p:nvSpPr>
        <p:spPr>
          <a:xfrm>
            <a:off x="610108" y="1559492"/>
            <a:ext cx="1097178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gapminder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tracks development indicators for 142 countries from 1952 to 2007. This dataset is inbuilt in R.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Variables: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 – country name (142 countries)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continent – Africa, Asia, Europe, Americas, Oceania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 – every 5 years from 1952 to 2007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 – population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gdpPercap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GDP per capita (USD)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lifeExp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life expectancy at birth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Install.packages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gapminder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| library(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gapminder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| data(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gapminder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</a:p>
        </p:txBody>
      </p:sp>
    </p:spTree>
    <p:extLst>
      <p:ext uri="{BB962C8B-B14F-4D97-AF65-F5344CB8AC3E}">
        <p14:creationId xmlns:p14="http://schemas.microsoft.com/office/powerpoint/2010/main" val="3233214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EE2286-990A-0947-9A88-FE130435C5DD}"/>
              </a:ext>
            </a:extLst>
          </p:cNvPr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004D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Exploring the Data and visualization with ggplot2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C24A01-D43A-4B44-8C60-3CED29392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28" y="6083808"/>
            <a:ext cx="646176" cy="6461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61BBF5-9340-3841-8FCC-EC6F42C9FCD2}"/>
              </a:ext>
            </a:extLst>
          </p:cNvPr>
          <p:cNvSpPr txBox="1"/>
          <p:nvPr/>
        </p:nvSpPr>
        <p:spPr>
          <a:xfrm>
            <a:off x="977231" y="6221150"/>
            <a:ext cx="3580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GHANA R USERS COMMUNITY</a:t>
            </a:r>
          </a:p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NATIONAL HUB FOR ALL R USER GROUPS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81901F-7CB7-F34F-9C6B-606C8342FEB4}"/>
              </a:ext>
            </a:extLst>
          </p:cNvPr>
          <p:cNvSpPr/>
          <p:nvPr/>
        </p:nvSpPr>
        <p:spPr>
          <a:xfrm flipV="1">
            <a:off x="5526281" y="6361177"/>
            <a:ext cx="2111037" cy="457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9C0696-54F3-654A-AECB-FD4994A69EF0}"/>
              </a:ext>
            </a:extLst>
          </p:cNvPr>
          <p:cNvSpPr/>
          <p:nvPr/>
        </p:nvSpPr>
        <p:spPr>
          <a:xfrm flipV="1">
            <a:off x="7168898" y="6361176"/>
            <a:ext cx="2111037" cy="457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A314E2-1CEF-8849-887B-C570C3829B58}"/>
              </a:ext>
            </a:extLst>
          </p:cNvPr>
          <p:cNvSpPr/>
          <p:nvPr/>
        </p:nvSpPr>
        <p:spPr>
          <a:xfrm flipV="1">
            <a:off x="8811515" y="6361175"/>
            <a:ext cx="2111037" cy="45719"/>
          </a:xfrm>
          <a:prstGeom prst="rect">
            <a:avLst/>
          </a:prstGeom>
          <a:solidFill>
            <a:srgbClr val="004D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508360-9E90-4B4F-A24D-6135E00EA95E}"/>
              </a:ext>
            </a:extLst>
          </p:cNvPr>
          <p:cNvSpPr txBox="1"/>
          <p:nvPr/>
        </p:nvSpPr>
        <p:spPr>
          <a:xfrm>
            <a:off x="610615" y="1540405"/>
            <a:ext cx="785451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the data</a:t>
            </a:r>
          </a:p>
          <a:p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install.packages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gapminder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</a:t>
            </a: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library(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gapminder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data(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gapminder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look</a:t>
            </a: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head(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gapminder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| str(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gapminder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dim(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gapminder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summary(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gapminder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for Africa</a:t>
            </a:r>
          </a:p>
          <a:p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africa_data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&lt;-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gapminder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gapminder$continent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“Africa”,]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for Ghana</a:t>
            </a:r>
          </a:p>
          <a:p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ghana_data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&lt;-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gapminder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gapminder$country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“Ghana”,]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787C7A-3E6C-E84A-B4AC-E71D4934383E}"/>
              </a:ext>
            </a:extLst>
          </p:cNvPr>
          <p:cNvSpPr txBox="1"/>
          <p:nvPr/>
        </p:nvSpPr>
        <p:spPr>
          <a:xfrm>
            <a:off x="5112327" y="1540404"/>
            <a:ext cx="665018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Visualisation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library(ggplot2)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#life expectancy over time in Ghana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ggplot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ghana_data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 = year, y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lifeExp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+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geom_line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(color = “green”, linewidth = 1.5) +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geom_point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(color = “red”, size = 3) +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labs(title = “Life Expectancy in Ghana (1952-2007), x = “Year”, y = “Life Expectancy”) +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theme_minimal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</a:p>
        </p:txBody>
      </p:sp>
    </p:spTree>
    <p:extLst>
      <p:ext uri="{BB962C8B-B14F-4D97-AF65-F5344CB8AC3E}">
        <p14:creationId xmlns:p14="http://schemas.microsoft.com/office/powerpoint/2010/main" val="16340108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EE2286-990A-0947-9A88-FE130435C5DD}"/>
              </a:ext>
            </a:extLst>
          </p:cNvPr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004D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Introducing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statease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C24A01-D43A-4B44-8C60-3CED29392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224" y="6107390"/>
            <a:ext cx="599007" cy="5990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61BBF5-9340-3841-8FCC-EC6F42C9FCD2}"/>
              </a:ext>
            </a:extLst>
          </p:cNvPr>
          <p:cNvSpPr txBox="1"/>
          <p:nvPr/>
        </p:nvSpPr>
        <p:spPr>
          <a:xfrm>
            <a:off x="977231" y="6221150"/>
            <a:ext cx="3580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GHANA R USERS COMMUNITY</a:t>
            </a:r>
          </a:p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NATIONAL HUB FOR ALL R USER GROUPS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81901F-7CB7-F34F-9C6B-606C8342FEB4}"/>
              </a:ext>
            </a:extLst>
          </p:cNvPr>
          <p:cNvSpPr/>
          <p:nvPr/>
        </p:nvSpPr>
        <p:spPr>
          <a:xfrm flipV="1">
            <a:off x="5526281" y="6361177"/>
            <a:ext cx="2111037" cy="457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9C0696-54F3-654A-AECB-FD4994A69EF0}"/>
              </a:ext>
            </a:extLst>
          </p:cNvPr>
          <p:cNvSpPr/>
          <p:nvPr/>
        </p:nvSpPr>
        <p:spPr>
          <a:xfrm flipV="1">
            <a:off x="7168898" y="6361176"/>
            <a:ext cx="2111037" cy="457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A314E2-1CEF-8849-887B-C570C3829B58}"/>
              </a:ext>
            </a:extLst>
          </p:cNvPr>
          <p:cNvSpPr/>
          <p:nvPr/>
        </p:nvSpPr>
        <p:spPr>
          <a:xfrm flipV="1">
            <a:off x="8811515" y="6361175"/>
            <a:ext cx="2111037" cy="45719"/>
          </a:xfrm>
          <a:prstGeom prst="rect">
            <a:avLst/>
          </a:prstGeom>
          <a:solidFill>
            <a:srgbClr val="004D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508360-9E90-4B4F-A24D-6135E00EA95E}"/>
              </a:ext>
            </a:extLst>
          </p:cNvPr>
          <p:cNvSpPr txBox="1"/>
          <p:nvPr/>
        </p:nvSpPr>
        <p:spPr>
          <a:xfrm>
            <a:off x="610614" y="1657825"/>
            <a:ext cx="1076396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a statistical test in R gives you numbers. But what do those numbers actually mean?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statease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runs the test and tells you what the result mean in plain English.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install.packages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statease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library(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statease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Availble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CRAN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https://devwebwacky.github.io/statease/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GitHub: https://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github.com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DevWebWacky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statease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76610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EE2286-990A-0947-9A88-FE130435C5DD}"/>
              </a:ext>
            </a:extLst>
          </p:cNvPr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004D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statease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functions and descriptive demo?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C24A01-D43A-4B44-8C60-3CED29392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28" y="6083808"/>
            <a:ext cx="646176" cy="6461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61BBF5-9340-3841-8FCC-EC6F42C9FCD2}"/>
              </a:ext>
            </a:extLst>
          </p:cNvPr>
          <p:cNvSpPr txBox="1"/>
          <p:nvPr/>
        </p:nvSpPr>
        <p:spPr>
          <a:xfrm>
            <a:off x="977231" y="6221150"/>
            <a:ext cx="3580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GHANA R USERS COMMUNITY</a:t>
            </a:r>
          </a:p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NATIONAL HUB FOR ALL R USER GROUPS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81901F-7CB7-F34F-9C6B-606C8342FEB4}"/>
              </a:ext>
            </a:extLst>
          </p:cNvPr>
          <p:cNvSpPr/>
          <p:nvPr/>
        </p:nvSpPr>
        <p:spPr>
          <a:xfrm flipV="1">
            <a:off x="5526281" y="6361177"/>
            <a:ext cx="2111037" cy="457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9C0696-54F3-654A-AECB-FD4994A69EF0}"/>
              </a:ext>
            </a:extLst>
          </p:cNvPr>
          <p:cNvSpPr/>
          <p:nvPr/>
        </p:nvSpPr>
        <p:spPr>
          <a:xfrm flipV="1">
            <a:off x="7168898" y="6361176"/>
            <a:ext cx="2111037" cy="457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A314E2-1CEF-8849-887B-C570C3829B58}"/>
              </a:ext>
            </a:extLst>
          </p:cNvPr>
          <p:cNvSpPr/>
          <p:nvPr/>
        </p:nvSpPr>
        <p:spPr>
          <a:xfrm flipV="1">
            <a:off x="8811515" y="6361175"/>
            <a:ext cx="2111037" cy="45719"/>
          </a:xfrm>
          <a:prstGeom prst="rect">
            <a:avLst/>
          </a:prstGeom>
          <a:solidFill>
            <a:srgbClr val="004D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508360-9E90-4B4F-A24D-6135E00EA95E}"/>
              </a:ext>
            </a:extLst>
          </p:cNvPr>
          <p:cNvSpPr txBox="1"/>
          <p:nvPr/>
        </p:nvSpPr>
        <p:spPr>
          <a:xfrm>
            <a:off x="610616" y="1524000"/>
            <a:ext cx="587331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describe() – Descriptive statistics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ttest_interpret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– T-tests (3 types)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anova_interpret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– One-way ANOVA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anova2_interpret() – Two-way ANOVA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manova_interpret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– MANOVA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chisq_interpret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– Chi-square test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cor_interpret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– Correlation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reg_interpret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- Simple regression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mlr_interpret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– Multiple regression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logistic_interpret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– Logistic regression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mannwhitney_interpret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– Mann-Whitney U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wilcoxon_interpret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– Wilcoxon test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kruskal_interpret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– Kruskal-Wallis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interpret_p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– P-value interpreter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analyze() – Master auto-detect function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0BB28C-D071-8A46-9FEA-29024AB70F67}"/>
              </a:ext>
            </a:extLst>
          </p:cNvPr>
          <p:cNvSpPr txBox="1"/>
          <p:nvPr/>
        </p:nvSpPr>
        <p:spPr>
          <a:xfrm>
            <a:off x="6096000" y="1523999"/>
            <a:ext cx="587331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library(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statease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library(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gapminder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#Describe life expectancy in Africa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africa_data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&lt;-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gapminder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gapminder$continent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= “Africa” &amp;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gapminder$year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= 2007, ]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&lt;- describe(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africa_data$lifeExp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var_name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“Life Expectancy in Africa (2007)”)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print(result)</a:t>
            </a:r>
          </a:p>
        </p:txBody>
      </p:sp>
    </p:spTree>
    <p:extLst>
      <p:ext uri="{BB962C8B-B14F-4D97-AF65-F5344CB8AC3E}">
        <p14:creationId xmlns:p14="http://schemas.microsoft.com/office/powerpoint/2010/main" val="2545643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EE2286-990A-0947-9A88-FE130435C5DD}"/>
              </a:ext>
            </a:extLst>
          </p:cNvPr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004D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statease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demo: T-Test and ANOVA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C24A01-D43A-4B44-8C60-3CED29392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28" y="6083808"/>
            <a:ext cx="646176" cy="6461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61BBF5-9340-3841-8FCC-EC6F42C9FCD2}"/>
              </a:ext>
            </a:extLst>
          </p:cNvPr>
          <p:cNvSpPr txBox="1"/>
          <p:nvPr/>
        </p:nvSpPr>
        <p:spPr>
          <a:xfrm>
            <a:off x="977231" y="6221150"/>
            <a:ext cx="3580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GHANA R USERS COMMUNITY</a:t>
            </a:r>
          </a:p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NATIONAL HUB FOR ALL R USER GROUPS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81901F-7CB7-F34F-9C6B-606C8342FEB4}"/>
              </a:ext>
            </a:extLst>
          </p:cNvPr>
          <p:cNvSpPr/>
          <p:nvPr/>
        </p:nvSpPr>
        <p:spPr>
          <a:xfrm flipV="1">
            <a:off x="5526281" y="6361177"/>
            <a:ext cx="2111037" cy="457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9C0696-54F3-654A-AECB-FD4994A69EF0}"/>
              </a:ext>
            </a:extLst>
          </p:cNvPr>
          <p:cNvSpPr/>
          <p:nvPr/>
        </p:nvSpPr>
        <p:spPr>
          <a:xfrm flipV="1">
            <a:off x="7168898" y="6361176"/>
            <a:ext cx="2111037" cy="457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A314E2-1CEF-8849-887B-C570C3829B58}"/>
              </a:ext>
            </a:extLst>
          </p:cNvPr>
          <p:cNvSpPr/>
          <p:nvPr/>
        </p:nvSpPr>
        <p:spPr>
          <a:xfrm flipV="1">
            <a:off x="8811515" y="6361175"/>
            <a:ext cx="2111037" cy="45719"/>
          </a:xfrm>
          <a:prstGeom prst="rect">
            <a:avLst/>
          </a:prstGeom>
          <a:solidFill>
            <a:srgbClr val="004D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508360-9E90-4B4F-A24D-6135E00EA95E}"/>
              </a:ext>
            </a:extLst>
          </p:cNvPr>
          <p:cNvSpPr txBox="1"/>
          <p:nvPr/>
        </p:nvSpPr>
        <p:spPr>
          <a:xfrm>
            <a:off x="610616" y="1685534"/>
            <a:ext cx="534683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#T-test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African and Asian Countries have difference life expectancies in 2007?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asia_data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&lt;-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gapminder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gapminder$continent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= “Asia” &amp;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gapminder$year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= 2007, ]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&lt;-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ttest_interpret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africa_data$lifeExp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asia_data$lifeExp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var_name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“Life Expectancy: Africa vs Asia”)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print(result)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DA91CA-F05D-6A44-A1C7-EF0979F3C21F}"/>
              </a:ext>
            </a:extLst>
          </p:cNvPr>
          <p:cNvSpPr txBox="1"/>
          <p:nvPr/>
        </p:nvSpPr>
        <p:spPr>
          <a:xfrm>
            <a:off x="6095999" y="1708523"/>
            <a:ext cx="565265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#ANOVA – Comparing multiple groups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continents differ in life expectancy in 2007?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data_2007 &lt;-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gapminder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gapminder$year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= 2007, ]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&lt;-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anova_interpret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lifeExp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 continent, data – data_2007)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print(result)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N/B: Tukey post-hoc runs automatically on significant p-value. </a:t>
            </a:r>
          </a:p>
        </p:txBody>
      </p:sp>
    </p:spTree>
    <p:extLst>
      <p:ext uri="{BB962C8B-B14F-4D97-AF65-F5344CB8AC3E}">
        <p14:creationId xmlns:p14="http://schemas.microsoft.com/office/powerpoint/2010/main" val="32464757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EE2286-990A-0947-9A88-FE130435C5DD}"/>
              </a:ext>
            </a:extLst>
          </p:cNvPr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004D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statease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demo – Correlation and Regression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C24A01-D43A-4B44-8C60-3CED29392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28" y="6083808"/>
            <a:ext cx="646176" cy="6461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61BBF5-9340-3841-8FCC-EC6F42C9FCD2}"/>
              </a:ext>
            </a:extLst>
          </p:cNvPr>
          <p:cNvSpPr txBox="1"/>
          <p:nvPr/>
        </p:nvSpPr>
        <p:spPr>
          <a:xfrm>
            <a:off x="977231" y="6221150"/>
            <a:ext cx="3580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GHANA R USERS COMMUNITY</a:t>
            </a:r>
          </a:p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NATIONAL HUB FOR ALL R USER GROUPS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81901F-7CB7-F34F-9C6B-606C8342FEB4}"/>
              </a:ext>
            </a:extLst>
          </p:cNvPr>
          <p:cNvSpPr/>
          <p:nvPr/>
        </p:nvSpPr>
        <p:spPr>
          <a:xfrm flipV="1">
            <a:off x="5526281" y="6361177"/>
            <a:ext cx="2111037" cy="457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9C0696-54F3-654A-AECB-FD4994A69EF0}"/>
              </a:ext>
            </a:extLst>
          </p:cNvPr>
          <p:cNvSpPr/>
          <p:nvPr/>
        </p:nvSpPr>
        <p:spPr>
          <a:xfrm flipV="1">
            <a:off x="7168898" y="6361176"/>
            <a:ext cx="2111037" cy="457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A314E2-1CEF-8849-887B-C570C3829B58}"/>
              </a:ext>
            </a:extLst>
          </p:cNvPr>
          <p:cNvSpPr/>
          <p:nvPr/>
        </p:nvSpPr>
        <p:spPr>
          <a:xfrm flipV="1">
            <a:off x="8811515" y="6361175"/>
            <a:ext cx="2111037" cy="45719"/>
          </a:xfrm>
          <a:prstGeom prst="rect">
            <a:avLst/>
          </a:prstGeom>
          <a:solidFill>
            <a:srgbClr val="004D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508360-9E90-4B4F-A24D-6135E00EA95E}"/>
              </a:ext>
            </a:extLst>
          </p:cNvPr>
          <p:cNvSpPr txBox="1"/>
          <p:nvPr/>
        </p:nvSpPr>
        <p:spPr>
          <a:xfrm>
            <a:off x="412585" y="1524000"/>
            <a:ext cx="5683415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#Relationship between variables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#Is GDP per capita related to life expectancy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&lt;-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cor_interpret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(data_2007$gdpPercap, data_2007$lifeExp, var1_name = “GDP per Capita”, var2_name = “Life Expectancy”)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print(result)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Does money buy a longer life?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C98CCA-E033-264F-ABFB-F0258F6818E4}"/>
              </a:ext>
            </a:extLst>
          </p:cNvPr>
          <p:cNvSpPr txBox="1"/>
          <p:nvPr/>
        </p:nvSpPr>
        <p:spPr>
          <a:xfrm>
            <a:off x="6508585" y="1524000"/>
            <a:ext cx="5683415" cy="46129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#Predicting Life Expectancy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#Can GDP per capita predict life expectancy?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&lt;-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reg_interpret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lifeExp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gdpPercap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data = data_2007)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print(result)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#Multiple regression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result2 &lt;-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mlr_interpret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lifeExp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gdpPercap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pop, data = data_2007)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print(result2) </a:t>
            </a:r>
          </a:p>
        </p:txBody>
      </p:sp>
    </p:spTree>
    <p:extLst>
      <p:ext uri="{BB962C8B-B14F-4D97-AF65-F5344CB8AC3E}">
        <p14:creationId xmlns:p14="http://schemas.microsoft.com/office/powerpoint/2010/main" val="28607950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EE2286-990A-0947-9A88-FE130435C5DD}"/>
              </a:ext>
            </a:extLst>
          </p:cNvPr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004D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analyze() Function – One command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C24A01-D43A-4B44-8C60-3CED29392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566" y="6176061"/>
            <a:ext cx="461665" cy="4616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61BBF5-9340-3841-8FCC-EC6F42C9FCD2}"/>
              </a:ext>
            </a:extLst>
          </p:cNvPr>
          <p:cNvSpPr txBox="1"/>
          <p:nvPr/>
        </p:nvSpPr>
        <p:spPr>
          <a:xfrm>
            <a:off x="977231" y="6221150"/>
            <a:ext cx="3580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GHANA R USERS COMMUNITY</a:t>
            </a:r>
          </a:p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NATIONAL HUB FOR ALL R USER GROUPS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81901F-7CB7-F34F-9C6B-606C8342FEB4}"/>
              </a:ext>
            </a:extLst>
          </p:cNvPr>
          <p:cNvSpPr/>
          <p:nvPr/>
        </p:nvSpPr>
        <p:spPr>
          <a:xfrm flipV="1">
            <a:off x="5526281" y="6361177"/>
            <a:ext cx="2111037" cy="457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9C0696-54F3-654A-AECB-FD4994A69EF0}"/>
              </a:ext>
            </a:extLst>
          </p:cNvPr>
          <p:cNvSpPr/>
          <p:nvPr/>
        </p:nvSpPr>
        <p:spPr>
          <a:xfrm flipV="1">
            <a:off x="7168898" y="6361176"/>
            <a:ext cx="2111037" cy="457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A314E2-1CEF-8849-887B-C570C3829B58}"/>
              </a:ext>
            </a:extLst>
          </p:cNvPr>
          <p:cNvSpPr/>
          <p:nvPr/>
        </p:nvSpPr>
        <p:spPr>
          <a:xfrm flipV="1">
            <a:off x="8811515" y="6361175"/>
            <a:ext cx="2111037" cy="45719"/>
          </a:xfrm>
          <a:prstGeom prst="rect">
            <a:avLst/>
          </a:prstGeom>
          <a:solidFill>
            <a:srgbClr val="004D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508360-9E90-4B4F-A24D-6135E00EA95E}"/>
              </a:ext>
            </a:extLst>
          </p:cNvPr>
          <p:cNvSpPr txBox="1"/>
          <p:nvPr/>
        </p:nvSpPr>
        <p:spPr>
          <a:xfrm>
            <a:off x="412585" y="1448071"/>
            <a:ext cx="839893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analyze() auto-detects the right test.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#Descriptive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analyze(x =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africa_data$lifeExp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var_name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“Life Expectancy”)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#Auto T-Test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analyze(x =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africa_data$lifeExp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 =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asia_data$lifeExp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#Auto ANOVA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analyze(formula =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lifeExp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 continent, data = data_2007)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#Auto Regression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analyze(formula =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lifeExp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gdpPercap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data = data_2007)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need to remember which function to use.</a:t>
            </a:r>
          </a:p>
        </p:txBody>
      </p:sp>
    </p:spTree>
    <p:extLst>
      <p:ext uri="{BB962C8B-B14F-4D97-AF65-F5344CB8AC3E}">
        <p14:creationId xmlns:p14="http://schemas.microsoft.com/office/powerpoint/2010/main" val="19119650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EE2286-990A-0947-9A88-FE130435C5DD}"/>
              </a:ext>
            </a:extLst>
          </p:cNvPr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004D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for Academic Research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C24A01-D43A-4B44-8C60-3CED29392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566" y="6176061"/>
            <a:ext cx="461665" cy="4616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61BBF5-9340-3841-8FCC-EC6F42C9FCD2}"/>
              </a:ext>
            </a:extLst>
          </p:cNvPr>
          <p:cNvSpPr txBox="1"/>
          <p:nvPr/>
        </p:nvSpPr>
        <p:spPr>
          <a:xfrm>
            <a:off x="977231" y="6221150"/>
            <a:ext cx="3580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GHANA R USERS COMMUNITY</a:t>
            </a:r>
          </a:p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NATIONAL HUB FOR ALL R USER GROUPS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81901F-7CB7-F34F-9C6B-606C8342FEB4}"/>
              </a:ext>
            </a:extLst>
          </p:cNvPr>
          <p:cNvSpPr/>
          <p:nvPr/>
        </p:nvSpPr>
        <p:spPr>
          <a:xfrm flipV="1">
            <a:off x="5526281" y="6361177"/>
            <a:ext cx="2111037" cy="457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9C0696-54F3-654A-AECB-FD4994A69EF0}"/>
              </a:ext>
            </a:extLst>
          </p:cNvPr>
          <p:cNvSpPr/>
          <p:nvPr/>
        </p:nvSpPr>
        <p:spPr>
          <a:xfrm flipV="1">
            <a:off x="7168898" y="6361176"/>
            <a:ext cx="2111037" cy="457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A314E2-1CEF-8849-887B-C570C3829B58}"/>
              </a:ext>
            </a:extLst>
          </p:cNvPr>
          <p:cNvSpPr/>
          <p:nvPr/>
        </p:nvSpPr>
        <p:spPr>
          <a:xfrm flipV="1">
            <a:off x="8811515" y="6361175"/>
            <a:ext cx="2111037" cy="45719"/>
          </a:xfrm>
          <a:prstGeom prst="rect">
            <a:avLst/>
          </a:prstGeom>
          <a:solidFill>
            <a:srgbClr val="004D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508360-9E90-4B4F-A24D-6135E00EA95E}"/>
              </a:ext>
            </a:extLst>
          </p:cNvPr>
          <p:cNvSpPr txBox="1"/>
          <p:nvPr/>
        </p:nvSpPr>
        <p:spPr>
          <a:xfrm>
            <a:off x="412585" y="1669743"/>
            <a:ext cx="8398930" cy="3268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researchers love R: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Reproducible research with R Markdown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Publication quality tables with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knitr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reporting with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statease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report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 with Git and GitHub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 through GitHub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– no expensive software licenses</a:t>
            </a:r>
          </a:p>
        </p:txBody>
      </p:sp>
    </p:spTree>
    <p:extLst>
      <p:ext uri="{BB962C8B-B14F-4D97-AF65-F5344CB8AC3E}">
        <p14:creationId xmlns:p14="http://schemas.microsoft.com/office/powerpoint/2010/main" val="40588630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EE2286-990A-0947-9A88-FE130435C5DD}"/>
              </a:ext>
            </a:extLst>
          </p:cNvPr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004D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for AI and Machine Learning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C24A01-D43A-4B44-8C60-3CED29392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566" y="6176061"/>
            <a:ext cx="461665" cy="4616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61BBF5-9340-3841-8FCC-EC6F42C9FCD2}"/>
              </a:ext>
            </a:extLst>
          </p:cNvPr>
          <p:cNvSpPr txBox="1"/>
          <p:nvPr/>
        </p:nvSpPr>
        <p:spPr>
          <a:xfrm>
            <a:off x="977231" y="6221150"/>
            <a:ext cx="3580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GHANA R USERS COMMUNITY</a:t>
            </a:r>
          </a:p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NATIONAL HUB FOR ALL R USER GROUPS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81901F-7CB7-F34F-9C6B-606C8342FEB4}"/>
              </a:ext>
            </a:extLst>
          </p:cNvPr>
          <p:cNvSpPr/>
          <p:nvPr/>
        </p:nvSpPr>
        <p:spPr>
          <a:xfrm flipV="1">
            <a:off x="5526281" y="6361177"/>
            <a:ext cx="2111037" cy="457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9C0696-54F3-654A-AECB-FD4994A69EF0}"/>
              </a:ext>
            </a:extLst>
          </p:cNvPr>
          <p:cNvSpPr/>
          <p:nvPr/>
        </p:nvSpPr>
        <p:spPr>
          <a:xfrm flipV="1">
            <a:off x="7168898" y="6361176"/>
            <a:ext cx="2111037" cy="457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A314E2-1CEF-8849-887B-C570C3829B58}"/>
              </a:ext>
            </a:extLst>
          </p:cNvPr>
          <p:cNvSpPr/>
          <p:nvPr/>
        </p:nvSpPr>
        <p:spPr>
          <a:xfrm flipV="1">
            <a:off x="8811515" y="6361175"/>
            <a:ext cx="2111037" cy="45719"/>
          </a:xfrm>
          <a:prstGeom prst="rect">
            <a:avLst/>
          </a:prstGeom>
          <a:solidFill>
            <a:srgbClr val="004D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508360-9E90-4B4F-A24D-6135E00EA95E}"/>
              </a:ext>
            </a:extLst>
          </p:cNvPr>
          <p:cNvSpPr txBox="1"/>
          <p:nvPr/>
        </p:nvSpPr>
        <p:spPr>
          <a:xfrm>
            <a:off x="412585" y="1794674"/>
            <a:ext cx="8398930" cy="390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ML ecosystem: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tidymodels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unified ML framework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caret – classification and regression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randomForest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random forest models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gradient boosting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/torch – deep learning in 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mlr3 – machine learning in R    </a:t>
            </a:r>
          </a:p>
        </p:txBody>
      </p:sp>
    </p:spTree>
    <p:extLst>
      <p:ext uri="{BB962C8B-B14F-4D97-AF65-F5344CB8AC3E}">
        <p14:creationId xmlns:p14="http://schemas.microsoft.com/office/powerpoint/2010/main" val="18655894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EE2286-990A-0947-9A88-FE130435C5DD}"/>
              </a:ext>
            </a:extLst>
          </p:cNvPr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004D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C24A01-D43A-4B44-8C60-3CED29392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566" y="6176061"/>
            <a:ext cx="461665" cy="4616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61BBF5-9340-3841-8FCC-EC6F42C9FCD2}"/>
              </a:ext>
            </a:extLst>
          </p:cNvPr>
          <p:cNvSpPr txBox="1"/>
          <p:nvPr/>
        </p:nvSpPr>
        <p:spPr>
          <a:xfrm>
            <a:off x="977231" y="6221150"/>
            <a:ext cx="3580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GHANA R USERS COMMUNITY</a:t>
            </a:r>
          </a:p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NATIONAL HUB FOR ALL R USER GROUPS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81901F-7CB7-F34F-9C6B-606C8342FEB4}"/>
              </a:ext>
            </a:extLst>
          </p:cNvPr>
          <p:cNvSpPr/>
          <p:nvPr/>
        </p:nvSpPr>
        <p:spPr>
          <a:xfrm flipV="1">
            <a:off x="5526281" y="6361177"/>
            <a:ext cx="2111037" cy="457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9C0696-54F3-654A-AECB-FD4994A69EF0}"/>
              </a:ext>
            </a:extLst>
          </p:cNvPr>
          <p:cNvSpPr/>
          <p:nvPr/>
        </p:nvSpPr>
        <p:spPr>
          <a:xfrm flipV="1">
            <a:off x="7168898" y="6361176"/>
            <a:ext cx="2111037" cy="457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A314E2-1CEF-8849-887B-C570C3829B58}"/>
              </a:ext>
            </a:extLst>
          </p:cNvPr>
          <p:cNvSpPr/>
          <p:nvPr/>
        </p:nvSpPr>
        <p:spPr>
          <a:xfrm flipV="1">
            <a:off x="8811515" y="6361175"/>
            <a:ext cx="2111037" cy="45719"/>
          </a:xfrm>
          <a:prstGeom prst="rect">
            <a:avLst/>
          </a:prstGeom>
          <a:solidFill>
            <a:srgbClr val="004D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508360-9E90-4B4F-A24D-6135E00EA95E}"/>
              </a:ext>
            </a:extLst>
          </p:cNvPr>
          <p:cNvSpPr txBox="1"/>
          <p:nvPr/>
        </p:nvSpPr>
        <p:spPr>
          <a:xfrm>
            <a:off x="1770330" y="3194592"/>
            <a:ext cx="8398930" cy="905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615530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811</TotalTime>
  <Words>1677</Words>
  <Application>Microsoft Macintosh PowerPoint</Application>
  <PresentationFormat>Widescreen</PresentationFormat>
  <Paragraphs>263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92</cp:revision>
  <dcterms:created xsi:type="dcterms:W3CDTF">2026-03-05T22:04:10Z</dcterms:created>
  <dcterms:modified xsi:type="dcterms:W3CDTF">2026-06-22T20:37:48Z</dcterms:modified>
</cp:coreProperties>
</file>